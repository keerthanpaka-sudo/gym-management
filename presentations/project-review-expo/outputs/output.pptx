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9AA3F8-3145-4351-94E6-CC7716826BD0}" v="2" dt="2026-04-20T14:31:25.4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anpaka@outlook.com" userId="edd232827a02da9a" providerId="LiveId" clId="{C1354F2A-80FC-4296-ABC2-1F548381E83C}"/>
    <pc:docChg chg="undo custSel modSld">
      <pc:chgData name="keerthanpaka@outlook.com" userId="edd232827a02da9a" providerId="LiveId" clId="{C1354F2A-80FC-4296-ABC2-1F548381E83C}" dt="2026-04-21T09:47:29.162" v="88" actId="1076"/>
      <pc:docMkLst>
        <pc:docMk/>
      </pc:docMkLst>
      <pc:sldChg chg="modSp mod">
        <pc:chgData name="keerthanpaka@outlook.com" userId="edd232827a02da9a" providerId="LiveId" clId="{C1354F2A-80FC-4296-ABC2-1F548381E83C}" dt="2026-04-21T09:47:29.162" v="88" actId="1076"/>
        <pc:sldMkLst>
          <pc:docMk/>
          <pc:sldMk cId="1805102117" sldId="256"/>
        </pc:sldMkLst>
        <pc:spChg chg="mod">
          <ac:chgData name="keerthanpaka@outlook.com" userId="edd232827a02da9a" providerId="LiveId" clId="{C1354F2A-80FC-4296-ABC2-1F548381E83C}" dt="2026-04-21T09:47:12.664" v="82" actId="1076"/>
          <ac:spMkLst>
            <pc:docMk/>
            <pc:sldMk cId="1805102117" sldId="256"/>
            <ac:spMk id="3" creationId="{D79BCD87-5A0F-49BD-91D0-A9C18DFE8874}"/>
          </ac:spMkLst>
        </pc:spChg>
        <pc:spChg chg="mod">
          <ac:chgData name="keerthanpaka@outlook.com" userId="edd232827a02da9a" providerId="LiveId" clId="{C1354F2A-80FC-4296-ABC2-1F548381E83C}" dt="2026-04-21T09:47:29.162" v="88" actId="1076"/>
          <ac:spMkLst>
            <pc:docMk/>
            <pc:sldMk cId="1805102117" sldId="256"/>
            <ac:spMk id="4" creationId="{5FAF0C88-034F-432B-970A-AFD1EECE043B}"/>
          </ac:spMkLst>
        </pc:spChg>
        <pc:spChg chg="mod">
          <ac:chgData name="keerthanpaka@outlook.com" userId="edd232827a02da9a" providerId="LiveId" clId="{C1354F2A-80FC-4296-ABC2-1F548381E83C}" dt="2026-04-21T09:47:20.956" v="87" actId="20577"/>
          <ac:spMkLst>
            <pc:docMk/>
            <pc:sldMk cId="1805102117" sldId="256"/>
            <ac:spMk id="6" creationId="{BB73005E-D4EF-472F-BFD1-8426CB90BED1}"/>
          </ac:spMkLst>
        </pc:spChg>
        <pc:spChg chg="mod">
          <ac:chgData name="keerthanpaka@outlook.com" userId="edd232827a02da9a" providerId="LiveId" clId="{C1354F2A-80FC-4296-ABC2-1F548381E83C}" dt="2026-04-21T09:47:18.282" v="83" actId="1076"/>
          <ac:spMkLst>
            <pc:docMk/>
            <pc:sldMk cId="1805102117" sldId="256"/>
            <ac:spMk id="7" creationId="{C30D9D38-2B0E-4411-99A1-3033C94C79FA}"/>
          </ac:spMkLst>
        </pc:spChg>
        <pc:spChg chg="mod">
          <ac:chgData name="keerthanpaka@outlook.com" userId="edd232827a02da9a" providerId="LiveId" clId="{C1354F2A-80FC-4296-ABC2-1F548381E83C}" dt="2026-04-20T14:26:44.925" v="0" actId="1076"/>
          <ac:spMkLst>
            <pc:docMk/>
            <pc:sldMk cId="1805102117" sldId="256"/>
            <ac:spMk id="8" creationId="{8E004F89-DD4A-4513-A936-2A5B79BD2D9E}"/>
          </ac:spMkLst>
        </pc:spChg>
      </pc:sldChg>
      <pc:sldChg chg="modSp mod">
        <pc:chgData name="keerthanpaka@outlook.com" userId="edd232827a02da9a" providerId="LiveId" clId="{C1354F2A-80FC-4296-ABC2-1F548381E83C}" dt="2026-04-20T14:32:14.206" v="65" actId="255"/>
        <pc:sldMkLst>
          <pc:docMk/>
          <pc:sldMk cId="1456552181" sldId="257"/>
        </pc:sldMkLst>
        <pc:spChg chg="mod">
          <ac:chgData name="keerthanpaka@outlook.com" userId="edd232827a02da9a" providerId="LiveId" clId="{C1354F2A-80FC-4296-ABC2-1F548381E83C}" dt="2026-04-20T14:32:07.865" v="64" actId="122"/>
          <ac:spMkLst>
            <pc:docMk/>
            <pc:sldMk cId="1456552181" sldId="257"/>
            <ac:spMk id="8" creationId="{857A045C-3C7C-435B-BC61-78063846CBB0}"/>
          </ac:spMkLst>
        </pc:spChg>
        <pc:spChg chg="mod">
          <ac:chgData name="keerthanpaka@outlook.com" userId="edd232827a02da9a" providerId="LiveId" clId="{C1354F2A-80FC-4296-ABC2-1F548381E83C}" dt="2026-04-20T14:32:14.206" v="65" actId="255"/>
          <ac:spMkLst>
            <pc:docMk/>
            <pc:sldMk cId="1456552181" sldId="257"/>
            <ac:spMk id="9" creationId="{46CEF6CA-CF72-46FE-8BB1-85B5DBC926AC}"/>
          </ac:spMkLst>
        </pc:spChg>
      </pc:sldChg>
      <pc:sldChg chg="modSp mod">
        <pc:chgData name="keerthanpaka@outlook.com" userId="edd232827a02da9a" providerId="LiveId" clId="{C1354F2A-80FC-4296-ABC2-1F548381E83C}" dt="2026-04-20T14:32:44.393" v="69" actId="1076"/>
        <pc:sldMkLst>
          <pc:docMk/>
          <pc:sldMk cId="224867168" sldId="258"/>
        </pc:sldMkLst>
        <pc:spChg chg="mod">
          <ac:chgData name="keerthanpaka@outlook.com" userId="edd232827a02da9a" providerId="LiveId" clId="{C1354F2A-80FC-4296-ABC2-1F548381E83C}" dt="2026-04-20T14:32:32.631" v="67" actId="1076"/>
          <ac:spMkLst>
            <pc:docMk/>
            <pc:sldMk cId="224867168" sldId="258"/>
            <ac:spMk id="3" creationId="{07E390A7-EAAD-4CDB-B072-6CC458C584D3}"/>
          </ac:spMkLst>
        </pc:spChg>
        <pc:spChg chg="mod">
          <ac:chgData name="keerthanpaka@outlook.com" userId="edd232827a02da9a" providerId="LiveId" clId="{C1354F2A-80FC-4296-ABC2-1F548381E83C}" dt="2026-04-20T14:32:44.393" v="69" actId="1076"/>
          <ac:spMkLst>
            <pc:docMk/>
            <pc:sldMk cId="224867168" sldId="258"/>
            <ac:spMk id="8" creationId="{580C6519-55C1-45C9-8B36-97B59C97190E}"/>
          </ac:spMkLst>
        </pc:spChg>
        <pc:spChg chg="mod">
          <ac:chgData name="keerthanpaka@outlook.com" userId="edd232827a02da9a" providerId="LiveId" clId="{C1354F2A-80FC-4296-ABC2-1F548381E83C}" dt="2026-04-20T14:32:38.023" v="68" actId="1076"/>
          <ac:spMkLst>
            <pc:docMk/>
            <pc:sldMk cId="224867168" sldId="258"/>
            <ac:spMk id="9" creationId="{A5DD83EC-0B4E-49A4-9F5D-EA26051614A7}"/>
          </ac:spMkLst>
        </pc:spChg>
        <pc:spChg chg="mod">
          <ac:chgData name="keerthanpaka@outlook.com" userId="edd232827a02da9a" providerId="LiveId" clId="{C1354F2A-80FC-4296-ABC2-1F548381E83C}" dt="2026-04-20T14:29:44.591" v="14" actId="113"/>
          <ac:spMkLst>
            <pc:docMk/>
            <pc:sldMk cId="224867168" sldId="258"/>
            <ac:spMk id="13" creationId="{E2C42FA1-9644-4469-87FB-4C7840F23A68}"/>
          </ac:spMkLst>
        </pc:spChg>
        <pc:spChg chg="mod">
          <ac:chgData name="keerthanpaka@outlook.com" userId="edd232827a02da9a" providerId="LiveId" clId="{C1354F2A-80FC-4296-ABC2-1F548381E83C}" dt="2026-04-20T14:30:00.955" v="22" actId="20577"/>
          <ac:spMkLst>
            <pc:docMk/>
            <pc:sldMk cId="224867168" sldId="258"/>
            <ac:spMk id="14" creationId="{A8E7466B-270E-434D-B4F1-61A14C0E9522}"/>
          </ac:spMkLst>
        </pc:spChg>
        <pc:spChg chg="mod">
          <ac:chgData name="keerthanpaka@outlook.com" userId="edd232827a02da9a" providerId="LiveId" clId="{C1354F2A-80FC-4296-ABC2-1F548381E83C}" dt="2026-04-20T14:29:15.586" v="9" actId="14100"/>
          <ac:spMkLst>
            <pc:docMk/>
            <pc:sldMk cId="224867168" sldId="258"/>
            <ac:spMk id="15" creationId="{A93ECB71-1049-4991-A077-C7C423795DC2}"/>
          </ac:spMkLst>
        </pc:spChg>
        <pc:spChg chg="mod">
          <ac:chgData name="keerthanpaka@outlook.com" userId="edd232827a02da9a" providerId="LiveId" clId="{C1354F2A-80FC-4296-ABC2-1F548381E83C}" dt="2026-04-20T14:28:58.710" v="8" actId="113"/>
          <ac:spMkLst>
            <pc:docMk/>
            <pc:sldMk cId="224867168" sldId="258"/>
            <ac:spMk id="18" creationId="{7BB114E4-E3BB-4B17-A94E-51C266CE8273}"/>
          </ac:spMkLst>
        </pc:spChg>
        <pc:spChg chg="mod">
          <ac:chgData name="keerthanpaka@outlook.com" userId="edd232827a02da9a" providerId="LiveId" clId="{C1354F2A-80FC-4296-ABC2-1F548381E83C}" dt="2026-04-20T14:30:59.003" v="54" actId="20577"/>
          <ac:spMkLst>
            <pc:docMk/>
            <pc:sldMk cId="224867168" sldId="258"/>
            <ac:spMk id="19" creationId="{24B37D6D-F5A4-4C16-93CE-D8D274F9AFCA}"/>
          </ac:spMkLst>
        </pc:spChg>
        <pc:spChg chg="mod">
          <ac:chgData name="keerthanpaka@outlook.com" userId="edd232827a02da9a" providerId="LiveId" clId="{C1354F2A-80FC-4296-ABC2-1F548381E83C}" dt="2026-04-20T14:29:23.728" v="11" actId="113"/>
          <ac:spMkLst>
            <pc:docMk/>
            <pc:sldMk cId="224867168" sldId="258"/>
            <ac:spMk id="23" creationId="{61113576-85D5-4042-AB46-1294F7E30EB0}"/>
          </ac:spMkLst>
        </pc:spChg>
        <pc:spChg chg="mod">
          <ac:chgData name="keerthanpaka@outlook.com" userId="edd232827a02da9a" providerId="LiveId" clId="{C1354F2A-80FC-4296-ABC2-1F548381E83C}" dt="2026-04-20T14:29:34.249" v="12" actId="1076"/>
          <ac:spMkLst>
            <pc:docMk/>
            <pc:sldMk cId="224867168" sldId="258"/>
            <ac:spMk id="24" creationId="{F21ACDA6-6673-47A6-B558-332A9C8145CB}"/>
          </ac:spMkLst>
        </pc:spChg>
      </pc:sldChg>
      <pc:sldChg chg="modSp mod">
        <pc:chgData name="keerthanpaka@outlook.com" userId="edd232827a02da9a" providerId="LiveId" clId="{C1354F2A-80FC-4296-ABC2-1F548381E83C}" dt="2026-04-20T14:34:26.918" v="77" actId="20577"/>
        <pc:sldMkLst>
          <pc:docMk/>
          <pc:sldMk cId="1806419369" sldId="268"/>
        </pc:sldMkLst>
        <pc:spChg chg="mod">
          <ac:chgData name="keerthanpaka@outlook.com" userId="edd232827a02da9a" providerId="LiveId" clId="{C1354F2A-80FC-4296-ABC2-1F548381E83C}" dt="2026-04-20T14:34:26.918" v="77" actId="20577"/>
          <ac:spMkLst>
            <pc:docMk/>
            <pc:sldMk cId="1806419369" sldId="268"/>
            <ac:spMk id="3" creationId="{6084D6A2-990A-4DD5-A4B6-CBB907C79BE5}"/>
          </ac:spMkLst>
        </pc:spChg>
        <pc:spChg chg="mod">
          <ac:chgData name="keerthanpaka@outlook.com" userId="edd232827a02da9a" providerId="LiveId" clId="{C1354F2A-80FC-4296-ABC2-1F548381E83C}" dt="2026-04-20T14:34:23.067" v="76" actId="1076"/>
          <ac:spMkLst>
            <pc:docMk/>
            <pc:sldMk cId="1806419369" sldId="268"/>
            <ac:spMk id="8" creationId="{F9F1E8D0-019B-4D63-9094-8345ADF2BCB5}"/>
          </ac:spMkLst>
        </pc:spChg>
        <pc:spChg chg="mod">
          <ac:chgData name="keerthanpaka@outlook.com" userId="edd232827a02da9a" providerId="LiveId" clId="{C1354F2A-80FC-4296-ABC2-1F548381E83C}" dt="2026-04-20T14:34:14.076" v="75" actId="255"/>
          <ac:spMkLst>
            <pc:docMk/>
            <pc:sldMk cId="1806419369" sldId="268"/>
            <ac:spMk id="9" creationId="{5CBBA72B-1FD8-4D4C-AB98-A88FC0C8E272}"/>
          </ac:spMkLst>
        </pc:spChg>
      </pc:sldChg>
      <pc:sldChg chg="modSp mod">
        <pc:chgData name="keerthanpaka@outlook.com" userId="edd232827a02da9a" providerId="LiveId" clId="{C1354F2A-80FC-4296-ABC2-1F548381E83C}" dt="2026-04-20T14:34:04.066" v="74" actId="255"/>
        <pc:sldMkLst>
          <pc:docMk/>
          <pc:sldMk cId="135751831" sldId="269"/>
        </pc:sldMkLst>
        <pc:spChg chg="mod">
          <ac:chgData name="keerthanpaka@outlook.com" userId="edd232827a02da9a" providerId="LiveId" clId="{C1354F2A-80FC-4296-ABC2-1F548381E83C}" dt="2026-04-20T14:34:04.066" v="74" actId="255"/>
          <ac:spMkLst>
            <pc:docMk/>
            <pc:sldMk cId="135751831" sldId="269"/>
            <ac:spMk id="9" creationId="{A4C4D957-BF0A-4AF4-857C-009D59EE2FBA}"/>
          </ac:spMkLst>
        </pc:spChg>
      </pc:sldChg>
      <pc:sldChg chg="modSp mod">
        <pc:chgData name="keerthanpaka@outlook.com" userId="edd232827a02da9a" providerId="LiveId" clId="{C1354F2A-80FC-4296-ABC2-1F548381E83C}" dt="2026-04-20T14:33:51.916" v="73" actId="255"/>
        <pc:sldMkLst>
          <pc:docMk/>
          <pc:sldMk cId="316963554" sldId="270"/>
        </pc:sldMkLst>
        <pc:spChg chg="mod">
          <ac:chgData name="keerthanpaka@outlook.com" userId="edd232827a02da9a" providerId="LiveId" clId="{C1354F2A-80FC-4296-ABC2-1F548381E83C}" dt="2026-04-20T14:33:51.916" v="73" actId="255"/>
          <ac:spMkLst>
            <pc:docMk/>
            <pc:sldMk cId="316963554" sldId="270"/>
            <ac:spMk id="9" creationId="{7880C482-C405-4EBF-AE95-12FC1E94DE10}"/>
          </ac:spMkLst>
        </pc:spChg>
      </pc:sldChg>
      <pc:sldChg chg="modSp mod">
        <pc:chgData name="keerthanpaka@outlook.com" userId="edd232827a02da9a" providerId="LiveId" clId="{C1354F2A-80FC-4296-ABC2-1F548381E83C}" dt="2026-04-20T14:33:33.888" v="72" actId="1076"/>
        <pc:sldMkLst>
          <pc:docMk/>
          <pc:sldMk cId="1722249584" sldId="271"/>
        </pc:sldMkLst>
        <pc:spChg chg="mod">
          <ac:chgData name="keerthanpaka@outlook.com" userId="edd232827a02da9a" providerId="LiveId" clId="{C1354F2A-80FC-4296-ABC2-1F548381E83C}" dt="2026-04-20T14:33:33.888" v="72" actId="1076"/>
          <ac:spMkLst>
            <pc:docMk/>
            <pc:sldMk cId="1722249584" sldId="271"/>
            <ac:spMk id="8" creationId="{2BA16A5D-AE20-4D7A-8D72-9D5FE623B375}"/>
          </ac:spMkLst>
        </pc:spChg>
        <pc:spChg chg="mod">
          <ac:chgData name="keerthanpaka@outlook.com" userId="edd232827a02da9a" providerId="LiveId" clId="{C1354F2A-80FC-4296-ABC2-1F548381E83C}" dt="2026-04-20T14:33:26.336" v="71" actId="1076"/>
          <ac:spMkLst>
            <pc:docMk/>
            <pc:sldMk cId="1722249584" sldId="271"/>
            <ac:spMk id="9" creationId="{3A172B39-4862-4FB3-A15C-46C059BABA7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introduce the project as more than a basic CRUD app. Emphasize that it spans operational workflows, customer journeys, trainer support, and engagement features.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Frame the project as a practical management platform with user-facing and admin-facing value. Mention that the implementation includes both operational and engagement modules.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these numbers to show reviewers that the project has meaningful functional depth. Mention that the backend also contains 11 domain models.</a:t>
            </a:r>
          </a:p>
          <a:p>
            <a:endParaRPr/>
          </a:p>
          <a:p>
            <a:r>
              <a:t>[Sources]</a:t>
            </a:r>
          </a:p>
          <a:p>
            <a:r>
              <a:t>- Backend/server.js, Backend/routes/*.js, Backend/models/*.js</a:t>
            </a:r>
          </a:p>
          <a:p>
            <a:r>
              <a:t>- Frontend/src/config/apiConfig.js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Keep this business-focused. It helps non-technical reviewers understand the motivation before the technical slides.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Call out that the project is not limited to the basic MERN stack; it integrates several production-style concerns.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Narrate the architecture as: frontend pages call centralized endpoints, routes apply auth and business rules, Mongoose models persist domain data, and services extend functionality.</a:t>
            </a:r>
          </a:p>
          <a:p>
            <a:endParaRPr/>
          </a:p>
          <a:p>
            <a:r>
              <a:t>[Sources]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  <a:p>
            <a:r>
              <a:t>- Frontend/src/config/apiConfig.js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the place to explain what a live demo could show first: login, browse plans, pay, book, and mark attendance.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helps differentiate the project from simpler management systems. It shows the platform is designed to retain and engage users, not only register them.</a:t>
            </a:r>
          </a:p>
          <a:p>
            <a:endParaRPr/>
          </a:p>
          <a:p>
            <a:r>
              <a:t>[Sources]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  <a:p>
            <a:r>
              <a:t>- Frontend/src/config/apiConfig.js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When presenting, mention that server.js mounts each route module cleanly and uses middleware for JSON parsing, CORS, environment config, and MongoDB connection.</a:t>
            </a:r>
          </a:p>
          <a:p>
            <a:endParaRPr/>
          </a:p>
          <a:p>
            <a:r>
              <a:t>[Sources]</a:t>
            </a:r>
          </a:p>
          <a:p>
            <a:r>
              <a:t>- Backend/server.js, Backend/routes/*.js, Backend/models/*.js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Explain that the frontend is not a single dashboard shell. It includes multiple routes, feature pages, and a centralized API config layer to reduce hardcoded URLs.</a:t>
            </a:r>
          </a:p>
          <a:p>
            <a:endParaRPr/>
          </a:p>
          <a:p>
            <a:r>
              <a:t>[Sources]</a:t>
            </a:r>
          </a:p>
          <a:p>
            <a:r>
              <a:t>- Frontend/src/App.js, Frontend/src/pages/*.js, Frontend/src/components/*.js</a:t>
            </a:r>
          </a:p>
          <a:p>
            <a:r>
              <a:t>- Frontend/src/config/apiConfig.js</a:t>
            </a:r>
          </a:p>
          <a:p>
            <a:r>
              <a:t>- IMPLEMENTATION_STATUS.md, FIXES_SUMMARY.md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Mention a few schema details to show depth: measurements and meal logs in progress tracking, inclusions in membership plans, comments and likes in community posts, and participants in live classes.</a:t>
            </a:r>
          </a:p>
          <a:p>
            <a:endParaRPr/>
          </a:p>
          <a:p>
            <a:r>
              <a:t>[Sources]</a:t>
            </a:r>
          </a:p>
          <a:p>
            <a:r>
              <a:t>- Backend/server.js, Backend/routes/*.js, Backend/models/*.js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a good slide for explaining the demo sequence. Walk through how the user experience continues after the first transaction instead of ending at signup.</a:t>
            </a:r>
          </a:p>
          <a:p>
            <a:endParaRPr/>
          </a:p>
          <a:p>
            <a:r>
              <a:t>[Sources]</a:t>
            </a:r>
          </a:p>
          <a:p>
            <a:r>
              <a:t>- Frontend/src/App.js, Frontend/src/pages/*.js, Frontend/src/components/*.js</a:t>
            </a:r>
          </a:p>
          <a:p>
            <a:r>
              <a:t>- Backend/server.js, Backend/routes/*.js, Backend/models/*.js</a:t>
            </a:r>
          </a:p>
          <a:p>
            <a:r>
              <a:t>- Frontend/src/config/apiConfig.js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slide is especially helpful in a review because it shows engineering iteration, not just final UI. Mention that the codebase was actively stabilized for testing and presentation.</a:t>
            </a:r>
          </a:p>
          <a:p>
            <a:endParaRPr/>
          </a:p>
          <a:p>
            <a:r>
              <a:t>[Sources]</a:t>
            </a:r>
          </a:p>
          <a:p>
            <a:r>
              <a:t>- IMPLEMENTATION_STATUS.md, FIXES_SUMMARY.md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Use this slide to show practical engineering maturity. It reassures reviewers that the team considered security and configuration management.</a:t>
            </a:r>
          </a:p>
          <a:p>
            <a:endParaRPr/>
          </a:p>
          <a:p>
            <a:r>
              <a:t>[Sources]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  <a:p>
            <a:r>
              <a:t>- README.md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Balance this slide carefully: highlight the strong scope while honestly noting that full production readiness would require stronger testing, deployment, and operational monitoring.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IMPLEMENTATION_STATUS.md, FIXES_SUMMARY.md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End with confidence. This slide should prepare you for viva questions and expo conversations after the formal walkthrough.</a:t>
            </a:r>
          </a:p>
          <a:p>
            <a:endParaRPr/>
          </a:p>
          <a:p>
            <a:r>
              <a:t>[Sources]</a:t>
            </a:r>
          </a:p>
          <a:p>
            <a:r>
              <a:t>- README.md</a:t>
            </a:r>
          </a:p>
          <a:p>
            <a:r>
              <a:t>- Backend/server.js, Backend/routes/*.js, Backend/models/*.js</a:t>
            </a:r>
          </a:p>
          <a:p>
            <a:r>
              <a:t>- Frontend/src/App.js, Frontend/src/pages/*.js, Frontend/src/components/*.js</a:t>
            </a:r>
          </a:p>
          <a:p>
            <a:r>
              <a:t>- IMPLEMENTATION_STATUS.md, FIXES_SUMMARY.md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9E47D2B-F992-417C-A923-0DF6D389AB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endParaRPr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8D2967CE-85E9-4E1B-B158-24D676DCB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720FB66-6ECF-4321-B427-FF264A9BF2C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124CB36-F4DC-4E9F-961C-51E9DCE8C45E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97ADD36-E233-46BB-836C-23351EE05D7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79BCD87-5A0F-49BD-91D0-A9C18DFE8874}"/>
              </a:ext>
            </a:extLst>
          </p:cNvPr>
          <p:cNvSpPr>
            <a:spLocks noGrp="1"/>
          </p:cNvSpPr>
          <p:nvPr/>
        </p:nvSpPr>
        <p:spPr>
          <a:xfrm>
            <a:off x="-68826" y="0"/>
            <a:ext cx="12192000" cy="6858000"/>
          </a:xfrm>
          <a:prstGeom prst="rect">
            <a:avLst/>
          </a:prstGeom>
          <a:solidFill>
            <a:srgbClr val="FFFFFF">
              <a:alpha val="8000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AF0C88-034F-432B-970A-AFD1EECE043B}"/>
              </a:ext>
            </a:extLst>
          </p:cNvPr>
          <p:cNvSpPr>
            <a:spLocks noGrp="1"/>
          </p:cNvSpPr>
          <p:nvPr/>
        </p:nvSpPr>
        <p:spPr>
          <a:xfrm>
            <a:off x="609600" y="1122363"/>
            <a:ext cx="66675" cy="43338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6EB2722-609F-4EAA-BBB1-619640F5929B}"/>
              </a:ext>
            </a:extLst>
          </p:cNvPr>
          <p:cNvSpPr>
            <a:spLocks noGrp="1"/>
          </p:cNvSpPr>
          <p:nvPr/>
        </p:nvSpPr>
        <p:spPr>
          <a:xfrm>
            <a:off x="819150" y="83820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PROJECT REVIEW + EXPO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73005E-D4EF-472F-BFD1-8426CB90BED1}"/>
              </a:ext>
            </a:extLst>
          </p:cNvPr>
          <p:cNvSpPr>
            <a:spLocks noGrp="1"/>
          </p:cNvSpPr>
          <p:nvPr/>
        </p:nvSpPr>
        <p:spPr>
          <a:xfrm>
            <a:off x="781050" y="1238250"/>
            <a:ext cx="7477125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600" b="1">
                <a:solidFill>
                  <a:srgbClr val="101214"/>
                </a:solidFill>
              </a:defRPr>
            </a:pPr>
            <a:r>
              <a:rPr sz="3600" b="1" dirty="0">
                <a:solidFill>
                  <a:srgbClr val="101214"/>
                </a:solidFill>
              </a:rPr>
              <a:t> Gym Management System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0D9D38-2B0E-4411-99A1-3033C94C79FA}"/>
              </a:ext>
            </a:extLst>
          </p:cNvPr>
          <p:cNvSpPr>
            <a:spLocks noGrp="1"/>
          </p:cNvSpPr>
          <p:nvPr/>
        </p:nvSpPr>
        <p:spPr>
          <a:xfrm>
            <a:off x="819150" y="2428875"/>
            <a:ext cx="58102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30363A"/>
                </a:solidFill>
              </a:defRPr>
            </a:pPr>
            <a:r>
              <a:rPr sz="2000" dirty="0">
                <a:solidFill>
                  <a:srgbClr val="30363A"/>
                </a:solidFill>
              </a:rPr>
              <a:t>A full-stack fitness operations platform that combines administration, memberships, trainer workflows, payments, attendance, progress tracking, and community engagement in one application.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E004F89-DD4A-4513-A936-2A5B79BD2D9E}"/>
              </a:ext>
            </a:extLst>
          </p:cNvPr>
          <p:cNvSpPr>
            <a:spLocks noGrp="1"/>
          </p:cNvSpPr>
          <p:nvPr/>
        </p:nvSpPr>
        <p:spPr>
          <a:xfrm>
            <a:off x="809625" y="4514850"/>
            <a:ext cx="3714750" cy="876300"/>
          </a:xfrm>
          <a:prstGeom prst="roundRect">
            <a:avLst>
              <a:gd name="adj" fmla="val 8696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9E83625-0848-4E4A-B3CB-491361A5CFDF}"/>
              </a:ext>
            </a:extLst>
          </p:cNvPr>
          <p:cNvSpPr>
            <a:spLocks noGrp="1"/>
          </p:cNvSpPr>
          <p:nvPr/>
        </p:nvSpPr>
        <p:spPr>
          <a:xfrm>
            <a:off x="1066800" y="4552950"/>
            <a:ext cx="32004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01214"/>
                </a:solidFill>
              </a:defRPr>
            </a:pPr>
            <a:r>
              <a:rPr sz="1725" b="1" dirty="0">
                <a:solidFill>
                  <a:srgbClr val="101214"/>
                </a:solidFill>
              </a:rPr>
              <a:t>From gym operations to member engagement in one MERN platform.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F64688-50D9-44AC-A673-9CEB3AAB662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05102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83F8F82-DBB1-4C91-8531-C1ECA376AEE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4C8B04-5444-47EA-A8C0-645FA69F1D85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PROJECT OVERVIEW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2BA001-35A6-4ABA-AD8B-24C77FC29635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2A37473-BFE3-4A4C-AD7E-599D476A4D6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1D29C05-B96F-4B05-A13A-666A307EC0AB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7A045C-3C7C-435B-BC61-78063846CBB0}"/>
              </a:ext>
            </a:extLst>
          </p:cNvPr>
          <p:cNvSpPr>
            <a:spLocks noGrp="1"/>
          </p:cNvSpPr>
          <p:nvPr/>
        </p:nvSpPr>
        <p:spPr>
          <a:xfrm>
            <a:off x="558800" y="1212057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>
                <a:solidFill>
                  <a:srgbClr val="101214"/>
                </a:solidFill>
              </a:rPr>
              <a:t>What the system delivers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CEF6CA-CF72-46FE-8BB1-85B5DBC926AC}"/>
              </a:ext>
            </a:extLst>
          </p:cNvPr>
          <p:cNvSpPr>
            <a:spLocks noGrp="1"/>
          </p:cNvSpPr>
          <p:nvPr/>
        </p:nvSpPr>
        <p:spPr>
          <a:xfrm>
            <a:off x="619125" y="1781175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2400" b="0" dirty="0">
                <a:solidFill>
                  <a:srgbClr val="30363A"/>
                </a:solidFill>
              </a:rPr>
              <a:t>The project is designed as a complete digital gym ecosystem for admins, trainers, and members rather than a single-purpose booking app.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21EE11E-915D-4B53-B7F5-CF608DF3D5AA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BC9C170-B5C1-4BA9-A1E1-ABA65878AB89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9FB51C-C2C6-435D-B54F-CEDDF047374F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553D64-B041-4BAC-A247-571A0AF2D724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39A61E-4F13-4C0D-9374-68C7FEC77AF3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E183426-3A16-42E1-8DA6-9603D6DBAAA7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630985-FA8E-49AC-B9C2-3F7EC80D2A2F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Platform Goal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7D896DF-D5AF-4413-95F9-93F695F0E7AE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Digitize the core workflows of a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modern gym: onboarding, plan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management, trainer booking,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class participation, attendance,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progress monitoring, and member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communication.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17FC4E87-0C4F-4AF5-A88F-07E92FA6E00F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99E3C5-5F14-49E1-9B85-A74A9017305A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E3C6482-B4DA-4561-902B-092604A575C1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3AEE78B-668F-40A9-BCBD-32E34B29DDBA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E6CB078-93DE-471C-8EF2-5A65659CC4BA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3BAF45-1FC2-44A0-9285-021E29ECE1BF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4237C6C-AD8B-4E33-8069-4F9E70EB2FFD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Primary Users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45B8F80-334C-4651-AB1F-D76AF30E10F9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Admins manage users, plans,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programs. Trainers guide members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through sessions, classes,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plans. Members book services,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pay, track progress, and join the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community.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5B0F31F-1776-4EAB-A7A5-F59610D04C48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E9B4A0-34E2-4614-8424-9512EEB19922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FEDD2D8-D057-4716-AB90-73E0DBD5B31F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2541318-B554-4BC7-90C9-70196E28429F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998BEFEF-E33F-4DEE-BF3B-B389CCF8890D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B825F0E-6513-4DE3-9014-757775682429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601DF40-FEFB-41AF-9A77-B667D8F28E58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Review Value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2852F03-DD57-473A-B0B8-6FD13F7357F3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project demonstrates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full-stack integration across UI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routing, API architecture,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MongoDB data modeling,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third-party services, role-based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access, and real user journeys.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61B06A1-889E-4324-981E-00ED56C0A911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4565521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7E390A7-EAAD-4CDB-B072-6CC458C584D3}"/>
              </a:ext>
            </a:extLst>
          </p:cNvPr>
          <p:cNvSpPr>
            <a:spLocks noGrp="1"/>
          </p:cNvSpPr>
          <p:nvPr/>
        </p:nvSpPr>
        <p:spPr>
          <a:xfrm>
            <a:off x="0" y="-78658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2E1C78-E182-438F-BF54-BF165CB4024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PROJECT SCALE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EF1A10-A74A-4358-962A-4F056150D660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F41610-E6A8-4B9D-86F1-6A180B8F7E7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35F4FCC-67B2-4A4C-8614-84020A397EFB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0C6519-55C1-45C9-8B36-97B59C97190E}"/>
              </a:ext>
            </a:extLst>
          </p:cNvPr>
          <p:cNvSpPr>
            <a:spLocks noGrp="1"/>
          </p:cNvSpPr>
          <p:nvPr/>
        </p:nvSpPr>
        <p:spPr>
          <a:xfrm>
            <a:off x="666750" y="1312606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>
                <a:solidFill>
                  <a:srgbClr val="101214"/>
                </a:solidFill>
              </a:rPr>
              <a:t>Scope visible in the codebase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DD83EC-0B4E-49A4-9F5D-EA26051614A7}"/>
              </a:ext>
            </a:extLst>
          </p:cNvPr>
          <p:cNvSpPr>
            <a:spLocks noGrp="1"/>
          </p:cNvSpPr>
          <p:nvPr/>
        </p:nvSpPr>
        <p:spPr>
          <a:xfrm>
            <a:off x="619125" y="1857375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2400" b="0" dirty="0">
                <a:solidFill>
                  <a:srgbClr val="30363A"/>
                </a:solidFill>
              </a:rPr>
              <a:t>The repository already shows meaningful breadth across user types, backend modules, data structures, and frontend endpoint coverage.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ED44982-9858-42F8-9659-6429737146D3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F2F8F2-9855-47EA-91F8-ECA9AA5EC55C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8595A7-3F75-4AED-9272-C846266D1F83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C42FA1-9644-4469-87FB-4C7840F23A68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1" dirty="0">
                <a:solidFill>
                  <a:srgbClr val="30363A"/>
                </a:solidFill>
              </a:rPr>
              <a:t>Role types built into auth and routing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E7466B-270E-434D-B4F1-61A14C0E9522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lang="en-US" sz="1050" dirty="0">
                <a:solidFill>
                  <a:srgbClr val="687076"/>
                </a:solidFill>
              </a:rPr>
              <a:t>A</a:t>
            </a:r>
            <a:r>
              <a:rPr sz="1050" b="0" dirty="0">
                <a:solidFill>
                  <a:srgbClr val="687076"/>
                </a:solidFill>
              </a:rPr>
              <a:t>dmin, </a:t>
            </a:r>
            <a:r>
              <a:rPr lang="en-US" sz="1050" dirty="0">
                <a:solidFill>
                  <a:srgbClr val="687076"/>
                </a:solidFill>
              </a:rPr>
              <a:t>M</a:t>
            </a:r>
            <a:r>
              <a:rPr sz="1050" b="0" dirty="0">
                <a:solidFill>
                  <a:srgbClr val="687076"/>
                </a:solidFill>
              </a:rPr>
              <a:t>ember, </a:t>
            </a:r>
            <a:r>
              <a:rPr lang="en-US" sz="1050" b="0" dirty="0">
                <a:solidFill>
                  <a:srgbClr val="687076"/>
                </a:solidFill>
              </a:rPr>
              <a:t>T</a:t>
            </a:r>
            <a:r>
              <a:rPr sz="1050" b="0" dirty="0">
                <a:solidFill>
                  <a:srgbClr val="687076"/>
                </a:solidFill>
              </a:rPr>
              <a:t>rainer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93ECB71-1049-4991-A077-C7C423795DC2}"/>
              </a:ext>
            </a:extLst>
          </p:cNvPr>
          <p:cNvSpPr>
            <a:spLocks noGrp="1"/>
          </p:cNvSpPr>
          <p:nvPr/>
        </p:nvSpPr>
        <p:spPr>
          <a:xfrm>
            <a:off x="4400550" y="3848099"/>
            <a:ext cx="3143250" cy="1679779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18C046-AF70-463B-AEA8-588CF8D29289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B5A1AC4-D366-47F6-AACD-F49EAC610761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BB114E4-E3BB-4B17-A94E-51C266CE8273}"/>
              </a:ext>
            </a:extLst>
          </p:cNvPr>
          <p:cNvSpPr>
            <a:spLocks noGrp="1"/>
          </p:cNvSpPr>
          <p:nvPr/>
        </p:nvSpPr>
        <p:spPr>
          <a:xfrm>
            <a:off x="4591050" y="4532056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1" dirty="0">
                <a:solidFill>
                  <a:srgbClr val="30363A"/>
                </a:solidFill>
              </a:rPr>
              <a:t>Backend route groups mounted in Express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4B37D6D-F5A4-4C16-93CE-D8D274F9AFCA}"/>
              </a:ext>
            </a:extLst>
          </p:cNvPr>
          <p:cNvSpPr>
            <a:spLocks noGrp="1"/>
          </p:cNvSpPr>
          <p:nvPr/>
        </p:nvSpPr>
        <p:spPr>
          <a:xfrm>
            <a:off x="4629150" y="48387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lang="en-US" sz="1050" dirty="0">
                <a:solidFill>
                  <a:srgbClr val="687076"/>
                </a:solidFill>
              </a:rPr>
              <a:t>A</a:t>
            </a:r>
            <a:r>
              <a:rPr sz="1050" b="0" dirty="0">
                <a:solidFill>
                  <a:srgbClr val="687076"/>
                </a:solidFill>
              </a:rPr>
              <a:t>uth, </a:t>
            </a:r>
            <a:r>
              <a:rPr lang="en-US" sz="1050" b="0" dirty="0">
                <a:solidFill>
                  <a:srgbClr val="687076"/>
                </a:solidFill>
              </a:rPr>
              <a:t>P</a:t>
            </a:r>
            <a:r>
              <a:rPr sz="1050" b="0" dirty="0">
                <a:solidFill>
                  <a:srgbClr val="687076"/>
                </a:solidFill>
              </a:rPr>
              <a:t>rograms, </a:t>
            </a:r>
            <a:r>
              <a:rPr lang="en-US" sz="1050" b="0" dirty="0">
                <a:solidFill>
                  <a:srgbClr val="687076"/>
                </a:solidFill>
              </a:rPr>
              <a:t>B</a:t>
            </a:r>
            <a:r>
              <a:rPr sz="1050" b="0" dirty="0">
                <a:solidFill>
                  <a:srgbClr val="687076"/>
                </a:solidFill>
              </a:rPr>
              <a:t>ookings, </a:t>
            </a:r>
            <a:r>
              <a:rPr lang="en-US" sz="1050" b="0" dirty="0">
                <a:solidFill>
                  <a:srgbClr val="687076"/>
                </a:solidFill>
              </a:rPr>
              <a:t>P</a:t>
            </a:r>
            <a:r>
              <a:rPr sz="1050" b="0" dirty="0">
                <a:solidFill>
                  <a:srgbClr val="687076"/>
                </a:solidFill>
              </a:rPr>
              <a:t>ayments, </a:t>
            </a:r>
            <a:r>
              <a:rPr lang="en-US" sz="1050" b="0" dirty="0">
                <a:solidFill>
                  <a:srgbClr val="687076"/>
                </a:solidFill>
              </a:rPr>
              <a:t>A</a:t>
            </a:r>
            <a:r>
              <a:rPr sz="1050" b="0" dirty="0">
                <a:solidFill>
                  <a:srgbClr val="687076"/>
                </a:solidFill>
              </a:rPr>
              <a:t>ttendance, </a:t>
            </a:r>
            <a:r>
              <a:rPr lang="en-US" sz="1050" b="0" dirty="0">
                <a:solidFill>
                  <a:srgbClr val="687076"/>
                </a:solidFill>
              </a:rPr>
              <a:t>M</a:t>
            </a:r>
            <a:r>
              <a:rPr sz="1050" b="0" dirty="0">
                <a:solidFill>
                  <a:srgbClr val="687076"/>
                </a:solidFill>
              </a:rPr>
              <a:t>edia, </a:t>
            </a:r>
            <a:r>
              <a:rPr lang="en-US" sz="1050" b="0" dirty="0">
                <a:solidFill>
                  <a:srgbClr val="687076"/>
                </a:solidFill>
              </a:rPr>
              <a:t>N</a:t>
            </a:r>
            <a:r>
              <a:rPr sz="1050" b="0" dirty="0">
                <a:solidFill>
                  <a:srgbClr val="687076"/>
                </a:solidFill>
              </a:rPr>
              <a:t>utrition, </a:t>
            </a:r>
            <a:r>
              <a:rPr lang="en-US" sz="1050" b="0" dirty="0">
                <a:solidFill>
                  <a:srgbClr val="687076"/>
                </a:solidFill>
              </a:rPr>
              <a:t>P</a:t>
            </a:r>
            <a:r>
              <a:rPr sz="1050" b="0" dirty="0">
                <a:solidFill>
                  <a:srgbClr val="687076"/>
                </a:solidFill>
              </a:rPr>
              <a:t>rogress, </a:t>
            </a:r>
            <a:r>
              <a:rPr lang="en-US" sz="1050" dirty="0">
                <a:solidFill>
                  <a:srgbClr val="687076"/>
                </a:solidFill>
              </a:rPr>
              <a:t>Li</a:t>
            </a:r>
            <a:r>
              <a:rPr sz="1050" b="0" dirty="0">
                <a:solidFill>
                  <a:srgbClr val="687076"/>
                </a:solidFill>
              </a:rPr>
              <a:t>ve </a:t>
            </a:r>
            <a:r>
              <a:rPr lang="en-US" sz="1050" b="0" dirty="0">
                <a:solidFill>
                  <a:srgbClr val="687076"/>
                </a:solidFill>
              </a:rPr>
              <a:t>C</a:t>
            </a:r>
            <a:r>
              <a:rPr sz="1050" b="0" dirty="0">
                <a:solidFill>
                  <a:srgbClr val="687076"/>
                </a:solidFill>
              </a:rPr>
              <a:t>lasses, </a:t>
            </a:r>
            <a:r>
              <a:rPr lang="en-US" sz="1050" b="0" dirty="0">
                <a:solidFill>
                  <a:srgbClr val="687076"/>
                </a:solidFill>
              </a:rPr>
              <a:t>C</a:t>
            </a:r>
            <a:r>
              <a:rPr sz="1050" b="0" dirty="0">
                <a:solidFill>
                  <a:srgbClr val="687076"/>
                </a:solidFill>
              </a:rPr>
              <a:t>ommunity, </a:t>
            </a:r>
            <a:r>
              <a:rPr lang="en-US" sz="1050" b="0" dirty="0">
                <a:solidFill>
                  <a:srgbClr val="687076"/>
                </a:solidFill>
              </a:rPr>
              <a:t>W</a:t>
            </a:r>
            <a:r>
              <a:rPr sz="1050" b="0" dirty="0">
                <a:solidFill>
                  <a:srgbClr val="687076"/>
                </a:solidFill>
              </a:rPr>
              <a:t>orkout plans, </a:t>
            </a:r>
            <a:r>
              <a:rPr lang="en-US" sz="1050" b="0" dirty="0">
                <a:solidFill>
                  <a:srgbClr val="687076"/>
                </a:solidFill>
              </a:rPr>
              <a:t>N</a:t>
            </a:r>
            <a:r>
              <a:rPr sz="1050" b="0" dirty="0">
                <a:solidFill>
                  <a:srgbClr val="687076"/>
                </a:solidFill>
              </a:rPr>
              <a:t>otifications, </a:t>
            </a:r>
            <a:r>
              <a:rPr lang="en-US" sz="1050" b="0" dirty="0">
                <a:solidFill>
                  <a:srgbClr val="687076"/>
                </a:solidFill>
              </a:rPr>
              <a:t>M</a:t>
            </a:r>
            <a:r>
              <a:rPr sz="1050" b="0" dirty="0">
                <a:solidFill>
                  <a:srgbClr val="687076"/>
                </a:solidFill>
              </a:rPr>
              <a:t>embership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AF53A8E-F76D-470C-82E3-C9ED76712573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9A4C704-02E5-4C43-9378-51D4AE2B791B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4BBD06-7382-4833-AF76-4E4E8AA53BB0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50+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113576-85D5-4042-AB46-1294F7E30EB0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1" dirty="0">
                <a:solidFill>
                  <a:srgbClr val="30363A"/>
                </a:solidFill>
              </a:rPr>
              <a:t>Centralized frontend API endpoints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1ACDA6-6673-47A6-B558-332A9C8145CB}"/>
              </a:ext>
            </a:extLst>
          </p:cNvPr>
          <p:cNvSpPr>
            <a:spLocks noGrp="1"/>
          </p:cNvSpPr>
          <p:nvPr/>
        </p:nvSpPr>
        <p:spPr>
          <a:xfrm>
            <a:off x="8191500" y="4943475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1050" b="0" dirty="0">
                <a:solidFill>
                  <a:srgbClr val="687076"/>
                </a:solidFill>
              </a:rPr>
              <a:t>Defined in apiConfig.js for consistent client-server integration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DCF38E-87A6-4A99-AAE0-443989D2767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24867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A746A97-9E6F-42D2-9AA7-910259FB69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F44D9A-103F-4ADC-B177-41E64BF3C96E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PROBLEM + SOLUTION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6B618-3B7B-4314-8748-E5F80F17F1CE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EE9DEB-9F51-43C9-A36A-F14F1B8EA3FD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9A69FC9-3EB1-4888-9744-DB1D7F9CC5D1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AC9E436-F0F3-4128-8E3D-14FFB8BC3803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Why this platform matters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BF2F42-1B31-4CF6-9060-8954A1D40C2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Traditional gym operations are often fragmented across registers, chats, spreadsheets, and separate payment or attendance systems.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E793396-6C8B-4B97-B5C5-6EF07A7FBB37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B876F6-2F82-4E67-812B-A1089AC8C0C5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E4D6581-8ADD-4C49-8FE3-8C124E8E849E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8660D7A-A9B2-45EB-AC4F-AC22AD85400A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BC1700-A998-4F73-96ED-8D430D178507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C329CB-DC26-4F18-8DA2-22BCEE381D7A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9F8513-BBD3-4783-849E-D84C9710B953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Problem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6FEF87-1284-44EB-A340-1C018B4067CF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Gyms need to coordinate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memberships, trainers, classes,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attendance, and user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communication. Fragmented tools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create errors, weak visibility,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poor member experience.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B5BF65-E931-40D5-8207-38FB43C4F85A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DBC901-5F5D-4358-A391-2002B31D5444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3AC38E6-0E2E-444B-ACAF-C77B1EEEE271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C667DB1-D807-4DA2-B802-726D52B54820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F2DFF72-945B-461E-8942-082154AE9C3C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3C5971B-4FFD-4711-B63D-1C43344B83D3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FDCA3F-6FEE-4AEC-B3EA-9836A8B3856B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Solution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C247B58-FC1E-4790-B05A-DF13A64C13EF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This MERN system brings the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workflows into one architecture: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React handles the experience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layer, Express handles business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logic, MongoDB stores operational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data, and external services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support payments and media.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1BEECAC-973D-437C-BB9D-A163149B8B96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71759C-FAA7-4FB4-B3DA-DCBF5AF167DF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AA00243-A797-4DA8-9D69-414351415E57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09789AD-8A4B-4641-A44D-F3800C80B3D5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B0303CB-B285-4C3A-AA3D-C36497917CE0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D83C310-3B40-4CEC-ABD9-89B45ACD4D6E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7CC748-A15E-40BD-9F7B-C51D22E43499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Outcome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C7F09BB-FDAA-44D1-963C-67BB93084B28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result is a platform where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users can move from account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creation to membership, booking,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attendance, progress tracking,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community participation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without leaving the system.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4B241E1-B481-4838-A914-EF1A1E80D87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73870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56E52F3-1BD0-451D-A95D-7D5C6B647A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096484-DBB3-4484-953E-68D23BF409F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TECH STACK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9766C93-07E6-4884-AE9E-D20D9B7B8D1C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F1FF3E-10DB-42F4-95EC-203F35D9E011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CFCFDC-3B7D-44F9-BFBF-FFC52AFB988C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86AF99-1A5D-4FD4-85DF-BE4ABEBB3C8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Technology stack and platform services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ECA5D3-CB6D-494A-8C6A-9718E0E4D63B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solution uses a classic MERN foundation and extends it with payments, media, validation, animation, and QR-based attendance support.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DDED157-BF5C-4E4D-85CE-69C66C748735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57417F9-3DDC-4765-A684-87C733A1D579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BF6BF2-947D-482B-950D-BF62A561C690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00700D4-3664-4CAC-891B-03E5BE6E335A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E777571-FEE3-4100-9FE6-789BF89B6E76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E74C6F-C1A6-4FB3-A702-4AF94527232C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8F5B78-8365-45EF-87B2-2F1C37B8350F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Frontend Layer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E1EB62F-7533-45FA-A1AA-CE9C31A983F0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React 18 powers the client app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with React Router for navigation,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Axios for API calls, React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Toastify for notifications,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Framer Motion for motion,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Stripe Elements for payments.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FC89C02-B6E8-46E9-B0CC-E7988CCC6A82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72A466-04B4-4FDC-8C47-0EE19AEAF6B9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0C1BE3-301E-4FD8-804A-47492F7B0F8F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95AC9DC-5CE7-4FC9-8B34-14B6CF56716E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6159841-BEEA-4310-9D31-7DB37D5FB97F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D60BB1C-DF00-4D4C-AC97-840CC795F6E2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CB3DAB3-5BD2-47A2-A1BB-10ACF13A9E4B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Backend Layer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E4AF6FE-42B6-4D9B-8928-8A3FF79102E0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Node.js and Express manage APIs,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request handling, validation,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authentication, and integration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logic. MongoDB with Mongoose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stores structured application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data.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D3EC02CD-9FAE-47F6-B8CD-A7126B846FAB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9DDCDC1-F742-4CA1-91D0-72976EA44173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86DD38E-5934-44C2-ADCC-CCCB854E9DD4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20D1809D-8998-433B-9746-9A4BC63EEAF6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9B4E615-989A-43C7-B526-D4D5FDBC3704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259839EF-F095-4139-8551-B11DF0190D25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217431A-8A4F-4688-8066-8B069D8907DC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Connected Services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73C7FD-6E7E-4D22-8CE3-AED06A79851A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Stripe is used for payment flow,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Cloudinary and Multer support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media upload, QRCode supports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attendance, JWT secures auth,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environment variables manage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deployment-specific settings.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0059611-ADFE-4819-912F-E9136CFE0A2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562928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EFFEF7A-F0EE-42F2-ACFA-8F2C2855C64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EC1FA7-E2CD-4A51-8113-DBB86CEC120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ARCHITECTURE SNAPSHOT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1F6BB11-0E15-4DEC-9D32-DCDBA7C0DA7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11EBB3-4230-4C62-894C-67B87FDADC07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51A2178-C929-465F-A8DC-6AD43A01E9ED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D37B08-2A50-412C-B6C4-DBFE7400416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High-level system architecture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F5F71A-4E50-48A9-81DA-4DE7796434B3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application follows a layered request-response model from role-based UI screens to API endpoints, database collections, and third-party integrations.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7CDD317-C4E9-423C-950E-96561BDCF133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61C648-6513-4258-B09F-E98DE41470A7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D5FEC8-A226-4BA2-A141-07C506C2A817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998F49D-60BA-4ECA-94D4-92E583C2D838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Primary applications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B0FD95-94C4-4D45-B16D-FC8043DE2F10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React frontend and Express backend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63A5B76-2C26-4337-A325-3D93FEEA282C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2D0C80-F7EA-4513-8077-BB861C395125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0EA78C-4D5B-4121-B550-94BADC8750AC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FD51A35-F266-4C43-B05C-296DC044B345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Core layers in the flow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6CDB0C5-B5D2-4F8A-8902-FBAB74239EFA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UI, API routes, database models, external services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8B70C7F-0C9A-4994-A62B-C2F99E0F867D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4FC02F-8CC0-42CD-AF64-BBB7F500A41B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3BE1281-CA65-4441-B26C-B62FFB1949C8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B65464-D2E5-46ED-9052-5EAB29B60697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Shared platform mission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A88E40-F256-46B4-BFD4-4912D4985487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Single source of truth for gym operations and member engagement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D09EBFE-FF1F-45C0-B7BF-D61C65BF579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66389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F557196-7932-4241-89CA-9E530480B5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9CD890F-820F-4EEC-9BCC-A2F5E4BDB1E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CORE MODULES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9962C23-3D84-4167-847F-3535A3E15FE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1DCF85-553A-48EC-8293-9C67F82532CB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20E76A4-D437-4A3A-9D22-36BC27896F27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60D621D-F7B3-4D18-B2EC-2FD647BC071F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Operational features delivered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DA2280E-0C2C-45E2-A335-262F3F53EA5E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These modules support the day-to-day gym workflows that form the core of the system.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F52C87C-E6E1-4913-A835-FCCDFC9771F9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3777CB5-B2FC-444B-9997-C880E7B3A6A9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EE69D82-9FD8-4D36-96FD-2411728850C8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871299-2096-4D79-B7BD-7A0DB4B7C562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048777-E1B0-4F2F-BB2F-7386C4D0F0C0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0B145F4-64FD-455A-AE99-70D79EDFBD4B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4AB452-F390-4DDB-89C6-032C0A193BEC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Membership + Payments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E40098-50DD-47E6-A57C-259B5861AD9B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Members can browse plans, join or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cancel memberships, and use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Stripe-backed payment flows.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Membership data is also written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back to the user profile with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start and end dates.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9FF6E2F2-3351-4C11-8F36-056886EB24CF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90778D1-AED2-455E-9AF5-73286E88B30F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D37E2E1-E96C-4A8E-81D7-B1D838FF7F82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393FBA7-746E-47E8-BB5A-2DBF13BC245C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6DB35D8-C2AA-4ED6-A591-47361369BCE4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7F39917-28D3-469F-A200-452F4B1E5A14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77FDAB7-34D8-4808-9817-ABF01ECBA379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Bookings + Attendance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F906263-BA99-49E2-BD3C-71D868CD4AD4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Members can book trainer slots,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while attendance is tracked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through QR code generation,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check-in, and checkout flows that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create session records.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D373877-1167-445C-83B6-5D7917491D65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E402727-6E41-4F8B-AA4D-B77C6C9832F9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3485FE0-6A0F-4497-9766-520CE33FFF4D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35F7234-93DD-4D58-A314-ECC180C2E5D3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2464CEBD-C5BC-4582-B430-61E0336B4B60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0710118-EE8A-4BCC-8F0B-2472AA50EC3B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E14EB7D-2D6A-4141-AC68-B177B2B63F7A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Programs + Dashboards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2919ADB-0B66-4552-AF81-021FBA7D2108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Fitness programs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role-specific dashboards give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admins, trainers, and members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targeted access to the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information and actions relevant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to their workflow.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9D4EA35-E6E8-43C1-B333-DE6CA1C11D3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256664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3A7FC5E-84A7-423F-889C-67C5384512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67B5AF0-35D1-4A24-B2C0-331629C2131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EXTENDED MODULES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DAC8C0-1FF7-4986-8D8F-9C19D1937F51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4B25E3-232E-4108-8B37-30CECD3A1E70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C55AE0-84EF-4622-B75A-90DE692672BE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E8532C-EA6C-4DA4-A2C7-EC1B3983BE65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Engagement and wellness ecosystem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131604-8C00-49FC-AC58-81B036D76999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Beyond operations, the project expands into member support, coaching, and platform engagement features.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1997F8-77B3-4791-A7D1-44EFD3B8B080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B11892-8B61-4244-B397-9AE83FF62A41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006AD24-9FB4-4B88-8E7D-8D75CD16F7B0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AB6D0AE-EB39-48F0-A2AD-3221A8192D83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9AFCA1-C92E-4EB9-B5BF-ABA4DCFFEF66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C98BD71-8189-4AA0-BDD7-D686D7A1F120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F956B2-850A-4FDA-B7E1-991B43FA4E5E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Nutrition + Workout Planning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A99372B-4655-4827-9C78-37FDB8012676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Nutrition plans include goals,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calories, macros, meal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structures, logs,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supplements. Workout plans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capture exercises, sets, reps,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frequency, duration,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completion progress.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827C5ED-5BC1-409E-BA90-3DF108DE60FC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B4C24B1-F23A-4D20-BF13-780063E26296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AAD21EF-2836-4782-AF45-E342A5217087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4093436-1956-4A0F-B469-E5A4E7DA0A8F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14F45AC-2296-4E17-93CB-B7C5ECAF0E29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DF3FE06-09A5-494D-904E-5730D87D3E53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7A6EEC-7972-4661-A6E1-182D40DFC143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Progress + Live Classes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228B84-F243-4B0E-B187-88C416B3115D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Progress tracking records body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metrics, workouts, nutrition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logs, goals, and progress photos.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Live classes support scheduling,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participant tracking, status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changes, and optional streaming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links.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290A715-354D-442F-AA12-A06011E5D283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F9E82BA-59CF-410B-8701-2919442335AE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B2F852E-827C-4263-ADA9-9E9495C46C30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62A746C-74C4-46F8-B66B-D111FEFC42D5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B6DC805-8AAB-4B41-AE50-FB4CFE355C4B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D1A36F0-B984-4942-8F32-ACCC2ACBC388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CB52F2D-6B51-470F-AF9A-B7AE4F53F7F9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Community + Notifications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E0CCA13-860C-4237-8DAC-293634CA7D04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Community posts support media,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likes, comments, and pinned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content. Notifications add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platform communication for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reminders, milestones, booking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changes, and system updates.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8E5AD06-11CD-4EFD-A762-6717790E12E0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669178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9B13D67-8488-42FA-9801-B2A09F7D01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05073B-0F77-4E7C-8861-24F08D8771E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BACKEND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F4E5C3-773B-40CA-BA4C-BC216FF8E0F2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DAC6F4-21EF-4623-B6C9-C5492C1FD452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1238696-FF64-4F0D-8494-E3927A8DB6FA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A4390B7-B587-4D41-BCD0-D0B5A3E811A4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Backend implementation depth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A797E5-4B57-4D09-ACE7-CBCF03CD2F3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API layer is organized into distinct modules, each backed by domain-specific Mongoose models and route-level business logic.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6CA330A-F562-4FB7-A350-1EC96B9A40B5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DF3C1DF-0295-4DB0-B317-5467FCA7E028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37B8F54-4218-4355-B948-BFF8A563D70A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0BEA62B-DCB2-4DB6-BFD1-8E5BEC84244E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Mongoose models in the domain layer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908B60-C5A5-4C35-BF56-DA3553D57553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User, Booking, Attendance, Program, MembershipPlan, NutritionPlan, WorkoutPlan, ProgressTracking, LiveClass, CommunityPost, Notification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29E5F0A-3F62-4768-8BD1-1F7E46C09745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F604FD3-B847-49C2-87B0-5329303B2023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FB23CAA-5B4C-42ED-B086-6080C831FD85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JWT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50D76B0-AB79-4A8B-8453-E3E59E9093E6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Authentication strategy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D1989E-6255-4463-B118-654B621E9508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Token-based auth with protected routes and role-aware access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2FFEC4B-6B36-4444-A701-E3E979D8FEA0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DF57BD3-A0FC-42AD-A08E-6B7E087B7E66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12B27C-5DF1-479F-87A9-B48D9B75B484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INR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DFD2F6B-0912-425D-A193-C6EF4EA2D5B6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Payment currency setup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D374C3-2C5B-41C4-9694-43D0830C0213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Stripe payment intents configured in Indian Rupees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C7DA2A6-11DA-4AD7-B50C-97669753411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957083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6D78957-71AE-4FB1-842B-E44FCC5F148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AA8A71-7FC9-4F28-BEE1-668D6F753B4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FRONTEND DESIGN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13A85C-CD3C-4FF6-B881-148E435DBE05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21724B-10BE-4C36-B449-EACEACDC310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F8DC7E1-7535-4E13-98D7-FD3A83230F48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5E38B6-9206-41C4-9E24-AB3E4AD26FE7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Frontend routing and experience design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FE03C8-CBCA-4569-A277-D8647FF0ACF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React application is structured around public pages, protected routes, and role-specific dashboard experiences.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542FF51-631D-4445-9B33-74DE58327C61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AE1233-3DD7-4400-B001-5AE663B92C33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F6894F3-9F73-4DE9-A8B9-F94C86781B56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2A6583-7C2B-4CD8-BAF5-ECB35056C647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E1BEF2-DF4D-44A3-B829-E0A5D664D3C0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B38CD0-A38A-45BB-975B-D6F36112118B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4D6AD0-15F4-4E54-A094-9CF698C404E7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Public Experience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2101B0-8240-4CE5-B78F-625948527445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landing page introduces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FitZone with animated hero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sections, plan highlights, center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selection, and a guided entry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into registration or login.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2D22553-1CCF-4409-A8D4-F9AFB00C2DD9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28ED79-D1C9-44BD-8169-8FDF8A014C86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4D1E7DB-6D23-4F6E-A284-DF200728DCBE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122D198-2484-4826-89A6-493486E88EB3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84DE7FB-5874-41C8-B9A9-EC3A3582B0F8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FA47D8-A195-4041-9F08-13FA9167A5AD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A1BF22B-257E-475C-A05A-9F4020C88631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Protected Navigation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33E7D16-9C72-4F57-8CA8-A5B111D3E1FC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ProtectedRoute checks token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presence and allowed roles before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rendering routes. This separates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public navigation from member,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trainer, and admin workflows.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651BB76D-8A19-4A8D-AB39-07D912FE841F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4DE9E0-F918-4C1D-926C-C87328C0E1B1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E713F43-9A74-4C4F-82D2-2AA81FD37715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7A15671-8174-4224-9292-35538D0A8FC3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88CDE4DB-33B0-4202-AACC-274B10A15320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2D57263-9A89-4A81-8E58-F5728CE7493E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4B66187-CEF1-4EAB-805A-07A9322F7AE5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Dashboard Coverage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89EAA96-E1CB-4FAB-BAB9-69957F8E5EC7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Admin, member, and trainer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dashboards are paired with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dedicated feature screens such as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programs, bookings, payments,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membership, attendance,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nutrition, progress, live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classes, and community.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52C3AB6-1961-4BD6-A981-2E7C604AD99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265447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FB6E711-895B-4024-B155-0D65D887072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864EF9B-8658-4018-8771-0E16B7C05C4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DATA MODEL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3D11D-3D00-4906-BDEE-47DD14B63133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11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5AA8A6-F890-45CA-896F-4FE31542326E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3D6D3A-025E-46A8-A8EA-E68A90B02C1A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751603-55FB-4357-A48F-59BA8615389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How the data layer is structured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7D3C237-33EE-4A6D-96A7-31E9B3249F45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The MongoDB schema design captures operational records, subscription state, coaching content, and user engagement in separate but connected collections.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55B46E4-DE50-4316-BBB1-A9CD690F7B82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DEFDF9-E72F-4800-8911-3138BDF8137B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9D5CAAB-C4EC-4A41-881C-8974D2F97D82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7DCA159-887B-4D4A-B98A-249DF4B53899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C9915B6-22D4-4228-94EC-2B772FC86F8F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673C75-DF67-480C-9E68-320460332F5B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9B923E-D3CA-460C-949B-6EB97AE6C2D5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User-Centered Relationships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BBC4BA-3808-4B98-9BA9-D09B180383FE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User model stores role,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trainer-member assignment,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profile image, and membership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details including linked plan,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center, and active period dates.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FE5180A-1058-4171-9CEA-505C5036BD92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80098A-ADE3-46D6-BA8A-77C0037139DA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6B149F9-A576-4B05-83AC-00790C37F31E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7595BDE-BCEA-488E-B5A4-56704F466F06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31CF76F-E3CB-4270-AE2E-A7FA8D5B49BA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1408E9E-A27F-4B3A-928C-901FE20ED94C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2F87FC-4C12-4BE4-BF68-A74814A17108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Operational Records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A3C220-2B70-4735-994B-A73521C08CAA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Bookings, Attendance,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MembershipPlan, Program,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WorkoutPlan, NutritionPlan,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ProgressTracking represent the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core day-to-day data needed to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run the gym and guide members.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573820D-9FFF-4584-88F6-07EF35237C94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A337B40-FA65-4E94-A3C2-8E8F35636C6B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4159851-F0CE-4296-A99F-47F53B99F05D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4CEDFF0-B929-49D6-9878-556B49590B58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46CC7AC-5F55-49B0-9555-423B3A315F11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9DE441C-51CC-4FC3-B12B-6559A2FFEEBE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676EA5D-C3EF-4412-90DF-E5DD9926D4B6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Engagement Records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B8F6FFE-E4E9-466A-92E5-49922DF276B3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LiveClass, CommunityPost,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Notification extend the system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into communication,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participation, social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interaction, reminders,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long-term member retention.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D0A43C-B5F6-4652-9D6A-136E61B56AD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80503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8DE93E5-90EA-4F65-9014-04D12063CCF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EDE936-7CBC-48F1-8858-0E9B70FA1C3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USER JOURNEY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C4E1E2D-64BA-462A-9AEA-4335AFE04D7A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12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C57BC9-F585-4B90-A6CD-FDFF7E5F4B28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AE84601-F5D1-4080-B85D-06D665802B24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D452CE-D5D8-42B4-88D9-E494F03CB5F0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End-to-end flow through the platform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13093F3-0A5C-483E-9B33-F0DF4E22EC5B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A member can move through a complete lifecycle inside the application, from onboarding to recurring engagement.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5777166-5528-4A80-90BF-C3453A1CD36C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ABF39E6-7119-4E2C-81F3-4C5D372D9543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594C8D-97EE-496A-8540-1C448B6535B1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EEC115-2291-40AB-9417-D5146DCBC5F6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Onboarding entry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E25A2B-765F-4A94-9809-75E898B745C8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Register or login with role-aware access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D05489-84D9-4E32-A4E6-2CB5AE77E560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9B47CE-A7E6-4577-8B75-F3CBE3B3B1C2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3455C9-0622-498A-B13C-531D5A05F7C7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4+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8CCB80-62BB-4744-B49A-B5FCA3505DC7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Core member journey actions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D81D43-3F92-4459-A7D6-AA53A39C5FF1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Select membership, pay, book trainer, mark attendance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B8C3F063-E7E7-49C4-ADD5-7FA4983B7F61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83F8D4-DE33-4A55-82D7-657881733040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39AD8A-69C1-43AF-A6F9-E9B1312A8F20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Ongoing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BE8430-D6CF-4424-B748-0BD29EB699D8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Retention loops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BA67E6F-64A6-4FE6-9463-9E644F97C2E7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Track progress, follow plans, join live classes, use community, receive notifications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3367878-FEBE-4335-94BE-A3B273DEE6C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672731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84D6A2-990A-4DD5-A4B6-CBB907C79B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813CBB-B5F5-4EC3-8F0F-82FC22C4665F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IMPLEMENTATION STATUS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18B20C-6275-438D-84E6-1D69D424E03E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13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240BAA1-94D8-4FA2-BD4A-CF6EFDA6727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1817DF-CCB9-421A-B493-79623318C778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9F1E8D0-019B-4D63-9094-8345ADF2BCB5}"/>
              </a:ext>
            </a:extLst>
          </p:cNvPr>
          <p:cNvSpPr>
            <a:spLocks noGrp="1"/>
          </p:cNvSpPr>
          <p:nvPr/>
        </p:nvSpPr>
        <p:spPr>
          <a:xfrm>
            <a:off x="628650" y="13906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>
                <a:solidFill>
                  <a:srgbClr val="101214"/>
                </a:solidFill>
              </a:rPr>
              <a:t>Fixes and improvements already completed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BBA72B-1FD8-4D4C-AB98-A88FC0C8E272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2000" b="0" dirty="0">
                <a:solidFill>
                  <a:srgbClr val="30363A"/>
                </a:solidFill>
              </a:rPr>
              <a:t>The project documentation shows active cleanup work that improved maintainability, correctness, and demo readiness.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FE051B1-445E-4540-8F99-D00B3E3840DE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8251982-23A3-42B8-9536-822501487A3F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AC5BD53-AB94-4F3A-9388-23CA8746B536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6B6BD6B-913D-46EE-8929-1B4551DE0887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417EEB8-19A4-46AC-A64F-97AFAC68735B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DCE58CA-BA2B-4C3B-A146-C6AA350BFCD0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2156D8-092B-42F5-B191-20E9D1DA0941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Centralized API Configuration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46259F-00DC-4105-8DFB-1233A25A5568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 dedicated apiConfig.js file was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introduced to remove scattered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localhost URLs and define a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shared endpoint layer for the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frontend.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25BC021C-B6EE-41D7-A4A5-F33E8C233C7B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8EC2F2-7421-48E3-93C7-3E449C881EEA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1E23D9E-0BD2-4D09-9D2A-27F84615AB48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36FE9D2-5458-422E-9699-15096E559EB8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B432540-D70B-4517-9EEC-6A654941DB57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C6EDCE9-EE84-445C-B06F-7A7514F913D0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A517356-CD9C-48B2-8567-5555AE4EF659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Missing Module Completion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84ED11-3082-4585-9425-EBD466C1168D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Nutrition, Progress,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Membership pages were created or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completed, expanding the feature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surface and reducing broken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navigation gaps.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14CB64A-B621-4171-A037-CB5C747D0978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FE9EF36-9ED5-4673-A5DE-B4BBE4B1A634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668DB05-B1D5-4F79-8C50-C6EA09B4BE03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1E64764-67C7-4818-AA40-9FAB827001C3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5188C301-E85E-4D84-B590-49591A1C5565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DE30C889-03AF-4CA6-A5DC-99B7D2C8DEC0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B45BDD2-404D-4C09-857D-2C4C55E78917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Bug Resolution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514A37C-9A2D-4FDC-BE98-ED8C09CB4420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Attendance QR issues, booking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endpoint issues, endpoint import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problems, and admin role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registration visibility were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documented as fixed in the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project notes.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E540831-C4A5-4697-AD45-8D7151AA4ED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8064193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40F2F07-C768-43C5-AAC4-88BE8110CB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15C03FC-9FFA-4C9B-9844-434A9455CBE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SECURITY +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3FA8469-0F07-418E-85E0-01EEFF6772A4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14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EC113E-5CC9-44A2-9265-4DC8D0A5A403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B50CE7A-4DAC-4F5E-A623-64E8AEF0C1F6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04CC58B-9B80-4AC6-9208-FD89D8719FC6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Security, integrations, and environment readiness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4C4D957-BF0A-4AF4-857C-009D59EE2FBA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2000" b="0" dirty="0">
                <a:solidFill>
                  <a:srgbClr val="30363A"/>
                </a:solidFill>
              </a:rPr>
              <a:t>The project includes multiple production-style considerations that go beyond visual features.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84C0C2B-1746-4FC8-AFBC-FF7732A3BC91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94DB826-B427-478A-BFC4-AD6C187E0844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01FF3E-62D4-4E05-AA9E-425F018FD16D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D430C84-D327-44D1-90FE-EA7DAB29B0C4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C0F80B1-7125-463B-998B-927CC933AA5A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954A566-13A4-43B3-B791-86C869D1126C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E29684-1403-4ADC-B3AA-85BA8287D286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Authentication + Access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C0ED7B-334C-436B-A8E5-5FF8D1F63628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Passwords are hashed with bcrypt,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JWT tokens secure sessions,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role checks help restrict admin,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trainer, and member access across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screens and backend actions.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AA973D3-7A9F-49B5-9F41-3973703AD5D9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CF52E3-C7D4-43D7-AEB8-FCE89B709B2D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2DFCD2B-115A-4E20-AF6D-F6D85B65F6F7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3C22AF9-B21A-46E9-B5D1-A45616030EEF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5209416-21E3-44E2-B679-D678A599DCD9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E90C013-B807-41D1-B461-9CC31401CCB3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1B4DA32-F1E5-4E8A-B195-4FD907BE67E9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Service Integrations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8E61C7B-C902-4BCF-883B-2E262FFEB77D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Stripe handles payment intents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confirmation, Cloudinary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supports media handling, QR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generation supports attendance,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webhook support is prepared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for payment events.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72D4922-E9F3-4FE4-80B3-0871C232985F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BD6F892-5E86-492F-9D6C-31B56C1288D7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3B9036B-444A-4033-9D45-4DE1523F2373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BF7D7443-E129-455D-826A-B8E9381C6F3E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87C8F45-62EB-43EA-9111-D8A14AB851B4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E8CC4C12-F096-4BC9-AE80-9F693525139D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09CBEBC-2A88-4C40-8303-2E5F795CB52A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Deployment Inputs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24C6630-0225-4521-A36D-82892BABE87F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Backend and frontend rely on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environment variables for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database connection, JWT secret,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Stripe keys, Cloudinary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credentials, frontend URL, and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API base configuration.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B82ED65-428B-4ACC-83D9-63E5EFA85249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35751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2AA426C-000B-4A11-9CA2-2900165190D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4118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0A3DE3-5117-4354-AAF3-61265D72F1C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EVALUATION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666CD98-68D2-4A65-BE3D-CC01E44B92F9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15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4BA71E-5BE5-4DC3-896D-EBD370D6E216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E3BFF4C-E65A-4F1A-A923-821C57802448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E1B45-D5ED-4EEA-AF50-3EFE61F06AEA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66675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Strengths, limitations, and next-step opportunities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80C482-C405-4EBF-AE95-12FC1E94DE10}"/>
              </a:ext>
            </a:extLst>
          </p:cNvPr>
          <p:cNvSpPr>
            <a:spLocks noGrp="1"/>
          </p:cNvSpPr>
          <p:nvPr/>
        </p:nvSpPr>
        <p:spPr>
          <a:xfrm>
            <a:off x="628650" y="2228850"/>
            <a:ext cx="66675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2000" b="0" dirty="0">
                <a:solidFill>
                  <a:srgbClr val="30363A"/>
                </a:solidFill>
              </a:rPr>
              <a:t>The project already shows strong breadth, while also leaving clear paths for further enhancement and production hardening.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9BC5766-E517-4AA7-8105-DA4687B455D3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D6E568-E70F-4815-9350-B0C113088AB6}"/>
              </a:ext>
            </a:extLst>
          </p:cNvPr>
          <p:cNvSpPr>
            <a:spLocks noGrp="1"/>
          </p:cNvSpPr>
          <p:nvPr/>
        </p:nvSpPr>
        <p:spPr>
          <a:xfrm>
            <a:off x="876300" y="3848100"/>
            <a:ext cx="3143250" cy="666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50FE30C-C641-40DE-B480-C3794C5CB28F}"/>
              </a:ext>
            </a:extLst>
          </p:cNvPr>
          <p:cNvSpPr>
            <a:spLocks noGrp="1"/>
          </p:cNvSpPr>
          <p:nvPr/>
        </p:nvSpPr>
        <p:spPr>
          <a:xfrm>
            <a:off x="10858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Strength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303E9DB-53C8-4D0C-8598-D0C2A4803A9A}"/>
              </a:ext>
            </a:extLst>
          </p:cNvPr>
          <p:cNvSpPr>
            <a:spLocks noGrp="1"/>
          </p:cNvSpPr>
          <p:nvPr/>
        </p:nvSpPr>
        <p:spPr>
          <a:xfrm>
            <a:off x="11049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Wide feature breadth across operations and engagement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580A9E-B0B5-42AB-83B5-8CA49918F1C6}"/>
              </a:ext>
            </a:extLst>
          </p:cNvPr>
          <p:cNvSpPr>
            <a:spLocks noGrp="1"/>
          </p:cNvSpPr>
          <p:nvPr/>
        </p:nvSpPr>
        <p:spPr>
          <a:xfrm>
            <a:off x="11049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Shows multi-module full-stack implementation rather than isolated CRUD pages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1AEABA9-E66B-4B45-959E-6ACDD17B0516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7673AE-6C26-40E8-B671-81137E399F58}"/>
              </a:ext>
            </a:extLst>
          </p:cNvPr>
          <p:cNvSpPr>
            <a:spLocks noGrp="1"/>
          </p:cNvSpPr>
          <p:nvPr/>
        </p:nvSpPr>
        <p:spPr>
          <a:xfrm>
            <a:off x="4400550" y="3848100"/>
            <a:ext cx="3143250" cy="66675"/>
          </a:xfrm>
          <a:prstGeom prst="rect">
            <a:avLst/>
          </a:prstGeom>
          <a:solidFill>
            <a:srgbClr val="D7A83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52C49F-A49A-402F-B3A0-4F6622ADFA78}"/>
              </a:ext>
            </a:extLst>
          </p:cNvPr>
          <p:cNvSpPr>
            <a:spLocks noGrp="1"/>
          </p:cNvSpPr>
          <p:nvPr/>
        </p:nvSpPr>
        <p:spPr>
          <a:xfrm>
            <a:off x="461010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Current Limit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0797A-5757-4BAF-8631-2FEEF1D2BFB3}"/>
              </a:ext>
            </a:extLst>
          </p:cNvPr>
          <p:cNvSpPr>
            <a:spLocks noGrp="1"/>
          </p:cNvSpPr>
          <p:nvPr/>
        </p:nvSpPr>
        <p:spPr>
          <a:xfrm>
            <a:off x="462915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Readiness depends on environment setup and seeded data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234EF96-5135-4D5D-92C7-F81D73720A60}"/>
              </a:ext>
            </a:extLst>
          </p:cNvPr>
          <p:cNvSpPr>
            <a:spLocks noGrp="1"/>
          </p:cNvSpPr>
          <p:nvPr/>
        </p:nvSpPr>
        <p:spPr>
          <a:xfrm>
            <a:off x="462915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MongoDB, service keys, and end-to-end testing are required for full demo flow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5658F17-01E8-47AB-B1D6-2C40DA98AD34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1657350"/>
          </a:xfrm>
          <a:prstGeom prst="roundRect">
            <a:avLst>
              <a:gd name="adj" fmla="val 4598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AFAA0F4-E3A7-4511-8769-1A9B5A7A40D3}"/>
              </a:ext>
            </a:extLst>
          </p:cNvPr>
          <p:cNvSpPr>
            <a:spLocks noGrp="1"/>
          </p:cNvSpPr>
          <p:nvPr/>
        </p:nvSpPr>
        <p:spPr>
          <a:xfrm>
            <a:off x="7924800" y="3848100"/>
            <a:ext cx="3143250" cy="66675"/>
          </a:xfrm>
          <a:prstGeom prst="rect">
            <a:avLst/>
          </a:prstGeom>
          <a:solidFill>
            <a:srgbClr val="E86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515FEA2-070A-4936-971B-B7D0A6084C25}"/>
              </a:ext>
            </a:extLst>
          </p:cNvPr>
          <p:cNvSpPr>
            <a:spLocks noGrp="1"/>
          </p:cNvSpPr>
          <p:nvPr/>
        </p:nvSpPr>
        <p:spPr>
          <a:xfrm>
            <a:off x="8134350" y="4076700"/>
            <a:ext cx="27241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Roadmap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A79194-5BAD-4204-B3CF-1719C27D8100}"/>
              </a:ext>
            </a:extLst>
          </p:cNvPr>
          <p:cNvSpPr>
            <a:spLocks noGrp="1"/>
          </p:cNvSpPr>
          <p:nvPr/>
        </p:nvSpPr>
        <p:spPr>
          <a:xfrm>
            <a:off x="8153400" y="4629150"/>
            <a:ext cx="2686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Analytics, mobile UX, real-time updates, and deployment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02F08FF-197F-4BB8-B7EB-4321FB36F770}"/>
              </a:ext>
            </a:extLst>
          </p:cNvPr>
          <p:cNvSpPr>
            <a:spLocks noGrp="1"/>
          </p:cNvSpPr>
          <p:nvPr/>
        </p:nvSpPr>
        <p:spPr>
          <a:xfrm>
            <a:off x="8153400" y="5105400"/>
            <a:ext cx="2686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Natural next steps after stabilizing testing and production hosting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3799305-92B7-47E4-9949-70FDA1B66AC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3169635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627A7931-D544-49B0-B45A-EAFD460FFC7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524000" y="1122363"/>
            <a:ext cx="9144000" cy="2387600"/>
          </a:xfrm>
        </p:spPr>
        <p:txBody>
          <a:bodyPr/>
          <a:lstStyle/>
          <a:p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rcRect t="21875" b="2187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6EF58F1-365D-4643-974F-DC7EA1B4BC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157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90BA7A-925A-414F-96C5-D6403A0A9D3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95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CLOSING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8EAC2A-A225-4956-AEA9-E281EF7C4346}"/>
              </a:ext>
            </a:extLst>
          </p:cNvPr>
          <p:cNvSpPr>
            <a:spLocks noGrp="1"/>
          </p:cNvSpPr>
          <p:nvPr/>
        </p:nvSpPr>
        <p:spPr>
          <a:xfrm>
            <a:off x="10610850" y="323850"/>
            <a:ext cx="990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16 / 16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763160-0EFC-488A-BB7B-79746091B6DA}"/>
              </a:ext>
            </a:extLst>
          </p:cNvPr>
          <p:cNvSpPr>
            <a:spLocks noGrp="1"/>
          </p:cNvSpPr>
          <p:nvPr/>
        </p:nvSpPr>
        <p:spPr>
          <a:xfrm>
            <a:off x="609600" y="609600"/>
            <a:ext cx="10972800" cy="19050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018177-913D-4F50-89F0-A4B3521E0E23}"/>
              </a:ext>
            </a:extLst>
          </p:cNvPr>
          <p:cNvSpPr>
            <a:spLocks noGrp="1"/>
          </p:cNvSpPr>
          <p:nvPr/>
        </p:nvSpPr>
        <p:spPr>
          <a:xfrm>
            <a:off x="542925" y="542925"/>
            <a:ext cx="152400" cy="152400"/>
          </a:xfrm>
          <a:prstGeom prst="ellipse">
            <a:avLst/>
          </a:prstGeom>
          <a:solidFill>
            <a:srgbClr val="27C47D"/>
          </a:solidFill>
          <a:ln w="19050">
            <a:solidFill>
              <a:srgbClr val="101214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A16A5D-AE20-4D7A-8D72-9D5FE623B375}"/>
              </a:ext>
            </a:extLst>
          </p:cNvPr>
          <p:cNvSpPr>
            <a:spLocks noGrp="1"/>
          </p:cNvSpPr>
          <p:nvPr/>
        </p:nvSpPr>
        <p:spPr>
          <a:xfrm>
            <a:off x="609600" y="1095375"/>
            <a:ext cx="7239000" cy="1352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3000" b="1">
                <a:solidFill>
                  <a:srgbClr val="101214"/>
                </a:solidFill>
              </a:defRPr>
            </a:pPr>
            <a:r>
              <a:rPr sz="3000" b="1" dirty="0">
                <a:solidFill>
                  <a:srgbClr val="101214"/>
                </a:solidFill>
              </a:rPr>
              <a:t>Project conclusion and expo talking points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172B39-4862-4FB3-A15C-46C059BABA78}"/>
              </a:ext>
            </a:extLst>
          </p:cNvPr>
          <p:cNvSpPr>
            <a:spLocks noGrp="1"/>
          </p:cNvSpPr>
          <p:nvPr/>
        </p:nvSpPr>
        <p:spPr>
          <a:xfrm>
            <a:off x="619125" y="1876425"/>
            <a:ext cx="6858000" cy="666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0">
                <a:solidFill>
                  <a:srgbClr val="30363A"/>
                </a:solidFill>
              </a:defRPr>
            </a:pPr>
            <a:r>
              <a:rPr sz="2000" b="0" dirty="0">
                <a:solidFill>
                  <a:srgbClr val="30363A"/>
                </a:solidFill>
              </a:rPr>
              <a:t>This MERN project demonstrates how a fitness business can be digitized across management, coaching, payments, and community experiences in a single full-stack system.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C75D68C-F3CF-4F64-A21F-A71FE8CCF08D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5ADF82-B099-4B8B-8E45-4D75D03FA498}"/>
              </a:ext>
            </a:extLst>
          </p:cNvPr>
          <p:cNvSpPr>
            <a:spLocks noGrp="1"/>
          </p:cNvSpPr>
          <p:nvPr/>
        </p:nvSpPr>
        <p:spPr>
          <a:xfrm>
            <a:off x="8001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7E3068-F8C4-4527-8B08-B3775434DFBD}"/>
              </a:ext>
            </a:extLst>
          </p:cNvPr>
          <p:cNvSpPr>
            <a:spLocks noGrp="1"/>
          </p:cNvSpPr>
          <p:nvPr/>
        </p:nvSpPr>
        <p:spPr>
          <a:xfrm>
            <a:off x="10096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517C1C-5BA3-4AEA-85A4-09E11DB44FC0}"/>
              </a:ext>
            </a:extLst>
          </p:cNvPr>
          <p:cNvSpPr>
            <a:spLocks noGrp="1"/>
          </p:cNvSpPr>
          <p:nvPr/>
        </p:nvSpPr>
        <p:spPr>
          <a:xfrm>
            <a:off x="1162050" y="4124325"/>
            <a:ext cx="57150" cy="1143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5A9E3E7-5836-4DC8-A2CD-4D1A6CA55001}"/>
              </a:ext>
            </a:extLst>
          </p:cNvPr>
          <p:cNvSpPr>
            <a:spLocks noGrp="1"/>
          </p:cNvSpPr>
          <p:nvPr/>
        </p:nvSpPr>
        <p:spPr>
          <a:xfrm>
            <a:off x="1247775" y="4048125"/>
            <a:ext cx="57150" cy="19050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D91FF3A-1811-4486-9320-DF13EC4943E1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57150" cy="257175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1EA218F-6DD5-4280-B934-B4279A54FCD9}"/>
              </a:ext>
            </a:extLst>
          </p:cNvPr>
          <p:cNvSpPr>
            <a:spLocks noGrp="1"/>
          </p:cNvSpPr>
          <p:nvPr/>
        </p:nvSpPr>
        <p:spPr>
          <a:xfrm>
            <a:off x="16383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Why It Stands Out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C4672EB-3437-4FE9-B42A-A72343B0C503}"/>
              </a:ext>
            </a:extLst>
          </p:cNvPr>
          <p:cNvSpPr>
            <a:spLocks noGrp="1"/>
          </p:cNvSpPr>
          <p:nvPr/>
        </p:nvSpPr>
        <p:spPr>
          <a:xfrm>
            <a:off x="10287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The platform combines technical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integration, role-aware design,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and broad functional coverage,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making it a strong project for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both review and public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demonstration.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FDDE9D3-EF4F-4348-9501-025E6FA05568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B9BE5A-B593-4407-9901-7970D87B6B8C}"/>
              </a:ext>
            </a:extLst>
          </p:cNvPr>
          <p:cNvSpPr>
            <a:spLocks noGrp="1"/>
          </p:cNvSpPr>
          <p:nvPr/>
        </p:nvSpPr>
        <p:spPr>
          <a:xfrm>
            <a:off x="441325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5F10938-469B-4CA8-9453-97EC18DEDE1A}"/>
              </a:ext>
            </a:extLst>
          </p:cNvPr>
          <p:cNvSpPr>
            <a:spLocks noGrp="1"/>
          </p:cNvSpPr>
          <p:nvPr/>
        </p:nvSpPr>
        <p:spPr>
          <a:xfrm>
            <a:off x="462280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DBA210-46AC-4C4A-BD6C-8A10C191AA9F}"/>
              </a:ext>
            </a:extLst>
          </p:cNvPr>
          <p:cNvSpPr>
            <a:spLocks noGrp="1"/>
          </p:cNvSpPr>
          <p:nvPr/>
        </p:nvSpPr>
        <p:spPr>
          <a:xfrm>
            <a:off x="4746625" y="4019550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56AB5A8-51D3-41F7-8C83-3F18A6D21818}"/>
              </a:ext>
            </a:extLst>
          </p:cNvPr>
          <p:cNvSpPr>
            <a:spLocks noGrp="1"/>
          </p:cNvSpPr>
          <p:nvPr/>
        </p:nvSpPr>
        <p:spPr>
          <a:xfrm>
            <a:off x="4918075" y="4105275"/>
            <a:ext cx="95250" cy="95250"/>
          </a:xfrm>
          <a:prstGeom prst="ellipse">
            <a:avLst/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5028550-D26C-407C-94B4-313086C863E7}"/>
              </a:ext>
            </a:extLst>
          </p:cNvPr>
          <p:cNvSpPr>
            <a:spLocks noGrp="1"/>
          </p:cNvSpPr>
          <p:nvPr/>
        </p:nvSpPr>
        <p:spPr>
          <a:xfrm>
            <a:off x="4832350" y="4086225"/>
            <a:ext cx="180975" cy="28575"/>
          </a:xfrm>
          <a:prstGeom prst="rect">
            <a:avLst/>
          </a:prstGeom>
          <a:solidFill>
            <a:srgbClr val="10121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19E3EB4-95FD-43B5-B562-781916654BFC}"/>
              </a:ext>
            </a:extLst>
          </p:cNvPr>
          <p:cNvSpPr>
            <a:spLocks noGrp="1"/>
          </p:cNvSpPr>
          <p:nvPr/>
        </p:nvSpPr>
        <p:spPr>
          <a:xfrm>
            <a:off x="525145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Recommended Demo Flow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CD6D6C-F062-4975-B7F8-F7C3EFB2DA60}"/>
              </a:ext>
            </a:extLst>
          </p:cNvPr>
          <p:cNvSpPr>
            <a:spLocks noGrp="1"/>
          </p:cNvSpPr>
          <p:nvPr/>
        </p:nvSpPr>
        <p:spPr>
          <a:xfrm>
            <a:off x="464185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Show registration or login,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navigate to dashboards, open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membership and payment flow,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create a booking, display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attendance QR, and finish with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progress or community features.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45CCE0B-E6C3-4303-9A53-C73FB7548E72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3384550" cy="2228850"/>
          </a:xfrm>
          <a:prstGeom prst="roundRect">
            <a:avLst>
              <a:gd name="adj" fmla="val 3419"/>
            </a:avLst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A2980D0-0DE2-4CFC-8F0E-A2573565D915}"/>
              </a:ext>
            </a:extLst>
          </p:cNvPr>
          <p:cNvSpPr>
            <a:spLocks noGrp="1"/>
          </p:cNvSpPr>
          <p:nvPr/>
        </p:nvSpPr>
        <p:spPr>
          <a:xfrm>
            <a:off x="8026400" y="3619500"/>
            <a:ext cx="76200" cy="2228850"/>
          </a:xfrm>
          <a:prstGeom prst="rect">
            <a:avLst/>
          </a:prstGeom>
          <a:solidFill>
            <a:srgbClr val="27C47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35069F7-9B89-4509-8D33-6E370F35BFD4}"/>
              </a:ext>
            </a:extLst>
          </p:cNvPr>
          <p:cNvSpPr>
            <a:spLocks noGrp="1"/>
          </p:cNvSpPr>
          <p:nvPr/>
        </p:nvSpPr>
        <p:spPr>
          <a:xfrm>
            <a:off x="8235950" y="3848100"/>
            <a:ext cx="514350" cy="514350"/>
          </a:xfrm>
          <a:prstGeom prst="ellipse">
            <a:avLst/>
          </a:prstGeom>
          <a:solidFill>
            <a:srgbClr val="F7F4ED">
              <a:alpha val="96078"/>
            </a:srgbClr>
          </a:solidFill>
          <a:ln w="11430">
            <a:solidFill>
              <a:srgbClr val="101214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1B4DEA0-9864-4EF0-8896-8D93F353CFE2}"/>
              </a:ext>
            </a:extLst>
          </p:cNvPr>
          <p:cNvSpPr>
            <a:spLocks noGrp="1"/>
          </p:cNvSpPr>
          <p:nvPr/>
        </p:nvSpPr>
        <p:spPr>
          <a:xfrm>
            <a:off x="8359775" y="3990975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27C47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B9A206F-E33D-473A-8B43-27305C39B98E}"/>
              </a:ext>
            </a:extLst>
          </p:cNvPr>
          <p:cNvSpPr>
            <a:spLocks noGrp="1"/>
          </p:cNvSpPr>
          <p:nvPr/>
        </p:nvSpPr>
        <p:spPr>
          <a:xfrm>
            <a:off x="8407400" y="4076700"/>
            <a:ext cx="247650" cy="123825"/>
          </a:xfrm>
          <a:prstGeom prst="roundRect">
            <a:avLst>
              <a:gd name="adj" fmla="val 50000"/>
            </a:avLst>
          </a:prstGeom>
          <a:solidFill>
            <a:srgbClr val="D7A83D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2EA6D19-4948-4E78-9A15-0A261D23DC49}"/>
              </a:ext>
            </a:extLst>
          </p:cNvPr>
          <p:cNvSpPr>
            <a:spLocks noGrp="1"/>
          </p:cNvSpPr>
          <p:nvPr/>
        </p:nvSpPr>
        <p:spPr>
          <a:xfrm>
            <a:off x="8455025" y="4162425"/>
            <a:ext cx="190500" cy="95250"/>
          </a:xfrm>
          <a:prstGeom prst="roundRect">
            <a:avLst>
              <a:gd name="adj" fmla="val 50000"/>
            </a:avLst>
          </a:prstGeom>
          <a:solidFill>
            <a:srgbClr val="E86F5B"/>
          </a:solidFill>
          <a:ln w="9525">
            <a:solidFill>
              <a:srgbClr val="101214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39BA5BD-8A2F-48FC-A829-2742F04AEA33}"/>
              </a:ext>
            </a:extLst>
          </p:cNvPr>
          <p:cNvSpPr>
            <a:spLocks noGrp="1"/>
          </p:cNvSpPr>
          <p:nvPr/>
        </p:nvSpPr>
        <p:spPr>
          <a:xfrm>
            <a:off x="8864600" y="3829050"/>
            <a:ext cx="23558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Discussion Starters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5D6579-284D-4017-A408-2557E7828176}"/>
              </a:ext>
            </a:extLst>
          </p:cNvPr>
          <p:cNvSpPr>
            <a:spLocks noGrp="1"/>
          </p:cNvSpPr>
          <p:nvPr/>
        </p:nvSpPr>
        <p:spPr>
          <a:xfrm>
            <a:off x="8255000" y="4438650"/>
            <a:ext cx="2927350" cy="1200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Possible questions to address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include scalability, security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upgrades, production deployment,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mobile support, trainer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workflows, and future AI-driven</a:t>
            </a:r>
          </a:p>
          <a:p>
            <a:pPr algn="l">
              <a:defRPr sz="1125" b="0">
                <a:solidFill>
                  <a:srgbClr val="101214"/>
                </a:solidFill>
              </a:defRPr>
            </a:pPr>
            <a:r>
              <a:rPr sz="1125" b="0">
                <a:solidFill>
                  <a:srgbClr val="101214"/>
                </a:solidFill>
              </a:rPr>
              <a:t>personalization.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F510D66-5A16-4660-A368-1F701B95DC0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334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All visible text, structure, and presentation content in this deck are editable PowerPoint objects.</a:t>
            </a:r>
          </a:p>
        </p:txBody>
      </p:sp>
    </p:spTree>
    <p:extLst>
      <p:ext uri="{BB962C8B-B14F-4D97-AF65-F5344CB8AC3E}">
        <p14:creationId xmlns:p14="http://schemas.microsoft.com/office/powerpoint/2010/main" val="172224958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3090</Words>
  <Application>Microsoft Office PowerPoint</Application>
  <DocSecurity>0</DocSecurity>
  <PresentationFormat>Widescreen</PresentationFormat>
  <Paragraphs>423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keerthanpaka@outlook.com</cp:lastModifiedBy>
  <cp:revision>1</cp:revision>
  <dcterms:created xsi:type="dcterms:W3CDTF">2026-04-20T14:24:22Z</dcterms:created>
  <dcterms:modified xsi:type="dcterms:W3CDTF">2026-04-21T09:47:38Z</dcterms:modified>
</cp:coreProperties>
</file>